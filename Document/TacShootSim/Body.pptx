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F30D6-5E07-4E36-BA33-A1F21C591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A84CB7-62B4-40CA-BA66-CF54E026E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C874AE-8457-4D55-87A9-D80B0B53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D6254D-93D7-418E-BBFC-458F70DF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9A98B2-0920-4192-81EB-4ED7F6D4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43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2963C-5DBB-487E-812B-F753F375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B265A9-7AEC-44D2-8B3A-B8D519636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5D92B-638B-4749-8197-F17EBB3F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FB1C9C-AE4D-4973-8E1A-8BAF7EBA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1AC0E6-C7C1-40DA-8168-C75A91E4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26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8443F-09F5-401D-9755-DCD7F57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B43272-0377-4344-BBFF-924731158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75406A-54F6-4739-B3B7-1254F904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D1E2C3-AAEA-4967-837F-552B4659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8E41B-60EF-4F33-BFDF-9D46594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69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EE982-FC43-41FC-841E-CFDC223E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AF8921-F5C0-4D93-B77C-5F6DCBD17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F34AFF-0293-4AB7-B0D9-7512B5DBF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EED365-197E-4824-95AA-BAC4DC7B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B80D06-FEF4-47B8-8733-FAF6A774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F3D586-B53C-4F0A-AEF3-47036797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05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AEB44-A614-417D-821E-094CDA83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4BD568-C49C-4570-99E3-87E1E6A5E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084CF5-A626-491A-8DA4-E343FA69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AB6DB9-9C5F-4F3F-956E-55B2BD784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D53C05-0A4D-4827-B0DD-273537D85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20DADD-B44B-47C6-9DBF-17D6A992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811D83-26D0-480E-80F7-42454872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80FE4A2-3FD7-4B7E-89AB-BB7A41FB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37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676EA-9D19-443B-9F8B-EB184F728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F8C444-BAFF-452F-8623-A0F6C35D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DB42A6-4A34-4740-9275-4F4CE9F0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601329-130A-41BC-AF6B-DB83EE5E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6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B10E22-71DB-4E29-B4A7-A958FAD1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CCA1-C966-43C6-8403-9B014B28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69FEBB-F4F2-4469-A5AF-F891C8D6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14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5DBFE-55E3-4BCF-8F98-F66526A8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FE514E-9A97-44B2-BE63-D1D0FFC7F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66B7B6-AE31-4645-88B9-E930D39D1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9F5C47-787C-4CB2-AF5E-E1EEE64C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33B822-688A-4335-A746-A1FDE011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E9EDEC-EA05-4C68-A179-360F0FEA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668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0CAF4-A2D9-439E-AD1F-609D0216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74B4A4-F35C-4F6A-A50C-30905D29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306BFE-09EA-4CD1-B3FC-F30E00C63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267B34-E4E2-4570-B61C-44E83DB8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0B9688-E4A5-4ECE-BFE0-A6D4E0EC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CC1A16-501C-4AB3-BD02-B5A4D650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0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36A85-60FA-434B-BFB6-5D6B2B95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22DFDE-FC04-4269-989A-BE363E9A8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25878-987C-4922-9D67-FCAA866C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AD89C-16E1-409B-A16F-28E32829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8142F3-508F-496E-B0E8-708F9F3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02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39A41C6-6444-4C79-8783-84FC334D6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58C600-856B-43D2-8367-54C410E69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A2FDCC-4A2D-49B8-AE53-E18DFA8C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104485-1DFC-4240-9654-2A27E761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A49C9A-EB0C-4EDB-95DC-3F393910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63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5B1F5-0808-481E-9031-FE40F14CF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D576CD-0F62-4A8C-A9FD-9ECB9CA42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33BCA8-FDFC-4951-A5D1-09E98B3B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9375-1B79-40A7-AB82-F42EAD125D59}" type="datetimeFigureOut">
              <a:rPr lang="ru-RU" smtClean="0"/>
              <a:t>24.04.2024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D65328-B290-4681-826B-CC29D511E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736FB-5713-4375-898B-D0B0C7DDE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A037-CECA-45B8-8B12-65A96CFA6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69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9A33DE-A753-41A7-A360-9B103B8C0BCB}"/>
              </a:ext>
            </a:extLst>
          </p:cNvPr>
          <p:cNvSpPr/>
          <p:nvPr/>
        </p:nvSpPr>
        <p:spPr>
          <a:xfrm>
            <a:off x="2480399" y="1398450"/>
            <a:ext cx="1440000" cy="14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Cambria" panose="02040503050406030204" pitchFamily="18" charset="0"/>
                <a:ea typeface="Cambria" panose="02040503050406030204" pitchFamily="18" charset="0"/>
              </a:rPr>
              <a:t>40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2D0745-847C-41B4-A647-F0DB13719635}"/>
              </a:ext>
            </a:extLst>
          </p:cNvPr>
          <p:cNvSpPr/>
          <p:nvPr/>
        </p:nvSpPr>
        <p:spPr>
          <a:xfrm>
            <a:off x="1940399" y="193845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04B2C3D-8BAA-4331-9E10-4A8F7E4B7843}"/>
              </a:ext>
            </a:extLst>
          </p:cNvPr>
          <p:cNvSpPr/>
          <p:nvPr/>
        </p:nvSpPr>
        <p:spPr>
          <a:xfrm>
            <a:off x="1940399" y="13984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F7C2F7A-6706-47FB-BE22-0CEAB2DA52FB}"/>
              </a:ext>
            </a:extLst>
          </p:cNvPr>
          <p:cNvSpPr/>
          <p:nvPr/>
        </p:nvSpPr>
        <p:spPr>
          <a:xfrm>
            <a:off x="2876399" y="750450"/>
            <a:ext cx="648000" cy="64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2ECF1F-C6CF-46D9-9055-C3FAA1BE2D00}"/>
              </a:ext>
            </a:extLst>
          </p:cNvPr>
          <p:cNvSpPr/>
          <p:nvPr/>
        </p:nvSpPr>
        <p:spPr>
          <a:xfrm>
            <a:off x="2660399" y="2838450"/>
            <a:ext cx="1080000" cy="108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Cambria" panose="02040503050406030204" pitchFamily="18" charset="0"/>
                <a:ea typeface="Cambria" panose="02040503050406030204" pitchFamily="18" charset="0"/>
              </a:rPr>
              <a:t>30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39492B8-E69C-458C-B405-9AC0DD9665EA}"/>
              </a:ext>
            </a:extLst>
          </p:cNvPr>
          <p:cNvSpPr/>
          <p:nvPr/>
        </p:nvSpPr>
        <p:spPr>
          <a:xfrm>
            <a:off x="3920399" y="13984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226D42E-39E4-4B18-AD12-323A12250020}"/>
              </a:ext>
            </a:extLst>
          </p:cNvPr>
          <p:cNvSpPr/>
          <p:nvPr/>
        </p:nvSpPr>
        <p:spPr>
          <a:xfrm>
            <a:off x="3200399" y="39184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FAEC26B-4557-439D-A0A7-7A289A2F7728}"/>
              </a:ext>
            </a:extLst>
          </p:cNvPr>
          <p:cNvSpPr/>
          <p:nvPr/>
        </p:nvSpPr>
        <p:spPr>
          <a:xfrm>
            <a:off x="2660399" y="39184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6482477-C8D2-46A8-BAE2-3B6F1A123349}"/>
              </a:ext>
            </a:extLst>
          </p:cNvPr>
          <p:cNvSpPr/>
          <p:nvPr/>
        </p:nvSpPr>
        <p:spPr>
          <a:xfrm>
            <a:off x="4100399" y="193845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73D9419-BC61-49FA-B244-96704772AA8A}"/>
              </a:ext>
            </a:extLst>
          </p:cNvPr>
          <p:cNvSpPr/>
          <p:nvPr/>
        </p:nvSpPr>
        <p:spPr>
          <a:xfrm>
            <a:off x="2750399" y="446430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CC40C1F-5F26-4B10-917E-ED5CC57F17FB}"/>
              </a:ext>
            </a:extLst>
          </p:cNvPr>
          <p:cNvSpPr/>
          <p:nvPr/>
        </p:nvSpPr>
        <p:spPr>
          <a:xfrm>
            <a:off x="3290399" y="445845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0B9C47E-E12F-4DD6-A26C-599516589B83}"/>
              </a:ext>
            </a:extLst>
          </p:cNvPr>
          <p:cNvGrpSpPr/>
          <p:nvPr/>
        </p:nvGrpSpPr>
        <p:grpSpPr>
          <a:xfrm>
            <a:off x="5022828" y="494848"/>
            <a:ext cx="2189738" cy="36000"/>
            <a:chOff x="3865869" y="3054450"/>
            <a:chExt cx="2189738" cy="36000"/>
          </a:xfrm>
        </p:grpSpPr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AD8FC20B-ED15-4A4F-A39D-CC321CE203EE}"/>
                </a:ext>
              </a:extLst>
            </p:cNvPr>
            <p:cNvCxnSpPr/>
            <p:nvPr/>
          </p:nvCxnSpPr>
          <p:spPr>
            <a:xfrm>
              <a:off x="4975607" y="3075725"/>
              <a:ext cx="10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F33D47A7-6652-431F-8C6E-5901701B40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5869" y="3072450"/>
              <a:ext cx="10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E9885CED-43B1-4816-A567-84ECC1BABE5A}"/>
                </a:ext>
              </a:extLst>
            </p:cNvPr>
            <p:cNvSpPr/>
            <p:nvPr/>
          </p:nvSpPr>
          <p:spPr>
            <a:xfrm>
              <a:off x="4949132" y="3054450"/>
              <a:ext cx="36000" cy="3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2418872-508C-4D16-BCE3-C2AF5B8A2454}"/>
              </a:ext>
            </a:extLst>
          </p:cNvPr>
          <p:cNvGrpSpPr/>
          <p:nvPr/>
        </p:nvGrpSpPr>
        <p:grpSpPr>
          <a:xfrm>
            <a:off x="3074080" y="3090450"/>
            <a:ext cx="252000" cy="36000"/>
            <a:chOff x="6624317" y="3429000"/>
            <a:chExt cx="252000" cy="36000"/>
          </a:xfrm>
        </p:grpSpPr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291FA758-B0BC-46DB-8569-7CF21A60217C}"/>
                </a:ext>
              </a:extLst>
            </p:cNvPr>
            <p:cNvCxnSpPr/>
            <p:nvPr/>
          </p:nvCxnSpPr>
          <p:spPr>
            <a:xfrm>
              <a:off x="6768317" y="3445950"/>
              <a:ext cx="10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>
              <a:extLst>
                <a:ext uri="{FF2B5EF4-FFF2-40B4-BE49-F238E27FC236}">
                  <a16:creationId xmlns:a16="http://schemas.microsoft.com/office/drawing/2014/main" id="{27AB0BA7-4BBB-4A32-B270-EF819ED0A9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4317" y="3445950"/>
              <a:ext cx="10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EB9A5637-95A6-4D52-971E-67D1930B6760}"/>
                </a:ext>
              </a:extLst>
            </p:cNvPr>
            <p:cNvSpPr/>
            <p:nvPr/>
          </p:nvSpPr>
          <p:spPr>
            <a:xfrm>
              <a:off x="6732317" y="3429000"/>
              <a:ext cx="36000" cy="3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5F63F46-141A-49DB-8F71-796F3C10B2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581" y="588739"/>
            <a:ext cx="2520000" cy="900000"/>
          </a:xfrm>
          <a:prstGeom prst="rect">
            <a:avLst/>
          </a:prstGeom>
          <a:noFill/>
        </p:spPr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46BFBC7-1124-469D-8E5C-86BB171139DF}"/>
              </a:ext>
            </a:extLst>
          </p:cNvPr>
          <p:cNvGrpSpPr/>
          <p:nvPr/>
        </p:nvGrpSpPr>
        <p:grpSpPr>
          <a:xfrm>
            <a:off x="2120399" y="2683876"/>
            <a:ext cx="2189738" cy="36000"/>
            <a:chOff x="3865869" y="3054450"/>
            <a:chExt cx="2189738" cy="36000"/>
          </a:xfrm>
        </p:grpSpPr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31E61827-3AF9-4854-AA84-0595248DFA78}"/>
                </a:ext>
              </a:extLst>
            </p:cNvPr>
            <p:cNvCxnSpPr/>
            <p:nvPr/>
          </p:nvCxnSpPr>
          <p:spPr>
            <a:xfrm>
              <a:off x="4975607" y="3075725"/>
              <a:ext cx="10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5A7F8E4C-583A-4AC7-9A1B-22EBD977B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5869" y="3072450"/>
              <a:ext cx="10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24AA12DC-72C8-45F2-89D1-CEF5BAC06A94}"/>
                </a:ext>
              </a:extLst>
            </p:cNvPr>
            <p:cNvSpPr/>
            <p:nvPr/>
          </p:nvSpPr>
          <p:spPr>
            <a:xfrm>
              <a:off x="4949132" y="3054450"/>
              <a:ext cx="36000" cy="3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B157F83-B09D-4471-92EB-621B950A639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581" y="3556890"/>
            <a:ext cx="2520000" cy="900000"/>
          </a:xfrm>
          <a:prstGeom prst="rect">
            <a:avLst/>
          </a:prstGeom>
          <a:noFill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A9E6065-AD39-4102-B32B-FBDCE6CBF03E}"/>
              </a:ext>
            </a:extLst>
          </p:cNvPr>
          <p:cNvSpPr txBox="1"/>
          <p:nvPr/>
        </p:nvSpPr>
        <p:spPr>
          <a:xfrm>
            <a:off x="3139556" y="27723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CE83F5-9EE7-46FB-9D76-D5C3AF56769E}"/>
              </a:ext>
            </a:extLst>
          </p:cNvPr>
          <p:cNvSpPr txBox="1"/>
          <p:nvPr/>
        </p:nvSpPr>
        <p:spPr>
          <a:xfrm>
            <a:off x="3468451" y="2400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30</a:t>
            </a:r>
          </a:p>
        </p:txBody>
      </p: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19447125-940A-4D26-A16B-372C3B0B030A}"/>
              </a:ext>
            </a:extLst>
          </p:cNvPr>
          <p:cNvGrpSpPr/>
          <p:nvPr/>
        </p:nvGrpSpPr>
        <p:grpSpPr>
          <a:xfrm>
            <a:off x="7541343" y="4638450"/>
            <a:ext cx="4438956" cy="924439"/>
            <a:chOff x="7541343" y="4638450"/>
            <a:chExt cx="4438956" cy="924439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FAB7196-CA6C-44E4-AC31-BDFE2DE8067D}"/>
                </a:ext>
              </a:extLst>
            </p:cNvPr>
            <p:cNvSpPr/>
            <p:nvPr/>
          </p:nvSpPr>
          <p:spPr>
            <a:xfrm>
              <a:off x="7541343" y="4638450"/>
              <a:ext cx="2755181" cy="200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Дальность (</a:t>
              </a:r>
              <a:r>
                <a:rPr lang="en-US" sz="1200" dirty="0"/>
                <a:t>[</a:t>
              </a:r>
              <a:r>
                <a:rPr lang="ru-RU" sz="1200" dirty="0"/>
                <a:t>1-24</a:t>
              </a:r>
              <a:r>
                <a:rPr lang="en-US" sz="1200" dirty="0"/>
                <a:t>]-36</a:t>
              </a:r>
              <a:r>
                <a:rPr lang="ru-RU" sz="1200" dirty="0"/>
                <a:t>-47.9)</a:t>
              </a:r>
              <a:r>
                <a:rPr lang="en-US" sz="1200" dirty="0"/>
                <a:t> </a:t>
              </a:r>
              <a:r>
                <a:rPr lang="ru-RU" sz="1200" dirty="0"/>
                <a:t>м.</a:t>
              </a: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69472C20-A7AE-4361-8833-1FF387F0CF6A}"/>
                </a:ext>
              </a:extLst>
            </p:cNvPr>
            <p:cNvSpPr/>
            <p:nvPr/>
          </p:nvSpPr>
          <p:spPr>
            <a:xfrm>
              <a:off x="7541343" y="4962813"/>
              <a:ext cx="2755181" cy="2000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Рассеяние (</a:t>
              </a:r>
              <a:r>
                <a:rPr lang="en-US" sz="1200" dirty="0"/>
                <a:t>[</a:t>
              </a:r>
              <a:r>
                <a:rPr lang="ru-RU" sz="1200" dirty="0"/>
                <a:t>3</a:t>
              </a:r>
              <a:r>
                <a:rPr lang="en-US" sz="1200" dirty="0"/>
                <a:t>]</a:t>
              </a:r>
              <a:r>
                <a:rPr lang="ru-RU" sz="1200" dirty="0"/>
                <a:t>–30</a:t>
              </a:r>
              <a:r>
                <a:rPr lang="en-US" sz="1200" dirty="0"/>
                <a:t>-43.5</a:t>
              </a:r>
              <a:r>
                <a:rPr lang="ru-RU" sz="1200" dirty="0"/>
                <a:t>-56.8) см.</a:t>
              </a:r>
            </a:p>
          </p:txBody>
        </p:sp>
        <p:cxnSp>
          <p:nvCxnSpPr>
            <p:cNvPr id="50" name="Прямая со стрелкой 49">
              <a:extLst>
                <a:ext uri="{FF2B5EF4-FFF2-40B4-BE49-F238E27FC236}">
                  <a16:creationId xmlns:a16="http://schemas.microsoft.com/office/drawing/2014/main" id="{7EE2C204-1897-4785-A1D8-AEBB137AB098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8918934" y="4838475"/>
              <a:ext cx="0" cy="124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72D0AB34-A819-43BB-B765-ACBD519C3997}"/>
                </a:ext>
              </a:extLst>
            </p:cNvPr>
            <p:cNvSpPr/>
            <p:nvPr/>
          </p:nvSpPr>
          <p:spPr>
            <a:xfrm>
              <a:off x="7541343" y="5269324"/>
              <a:ext cx="2755182" cy="2935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Вероятность (</a:t>
              </a:r>
              <a:r>
                <a:rPr lang="en-US" sz="1200" dirty="0"/>
                <a:t>100-100-100</a:t>
              </a:r>
              <a:r>
                <a:rPr lang="ru-RU" sz="1200" dirty="0"/>
                <a:t>) –</a:t>
              </a:r>
            </a:p>
            <a:p>
              <a:pPr algn="ctr"/>
              <a:r>
                <a:rPr lang="en-US" sz="1200" dirty="0"/>
                <a:t>(50.9</a:t>
              </a:r>
              <a:r>
                <a:rPr lang="ru-RU" sz="1200" dirty="0"/>
                <a:t>-81.5-</a:t>
              </a:r>
              <a:r>
                <a:rPr lang="en-US" sz="1200" dirty="0"/>
                <a:t>99.7) </a:t>
              </a:r>
              <a:r>
                <a:rPr lang="ru-RU" sz="1200" dirty="0"/>
                <a:t>–</a:t>
              </a:r>
              <a:r>
                <a:rPr lang="en-US" sz="1200" dirty="0"/>
                <a:t> (42.6-65.3-97.6)</a:t>
              </a:r>
              <a:endParaRPr lang="ru-RU" sz="1200" dirty="0"/>
            </a:p>
          </p:txBody>
        </p: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E6631111-96AC-4D6F-AE23-8E7395A59B4C}"/>
                </a:ext>
              </a:extLst>
            </p:cNvPr>
            <p:cNvCxnSpPr>
              <a:cxnSpLocks/>
              <a:stCxn id="22" idx="2"/>
              <a:endCxn id="53" idx="0"/>
            </p:cNvCxnSpPr>
            <p:nvPr/>
          </p:nvCxnSpPr>
          <p:spPr>
            <a:xfrm>
              <a:off x="8918934" y="5162839"/>
              <a:ext cx="0" cy="106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EAE8BEF5-A662-4A0A-B8F4-C40890CBCD56}"/>
                </a:ext>
              </a:extLst>
            </p:cNvPr>
            <p:cNvSpPr/>
            <p:nvPr/>
          </p:nvSpPr>
          <p:spPr>
            <a:xfrm>
              <a:off x="10558625" y="5344925"/>
              <a:ext cx="1421674" cy="1423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Тело (10-18</a:t>
              </a:r>
              <a:r>
                <a:rPr lang="en-US" sz="1200" dirty="0"/>
                <a:t>-4</a:t>
              </a:r>
              <a:r>
                <a:rPr lang="ru-RU" sz="1200" dirty="0"/>
                <a:t>0) см.</a:t>
              </a:r>
            </a:p>
          </p:txBody>
        </p:sp>
        <p:cxnSp>
          <p:nvCxnSpPr>
            <p:cNvPr id="67" name="Прямая со стрелкой 66">
              <a:extLst>
                <a:ext uri="{FF2B5EF4-FFF2-40B4-BE49-F238E27FC236}">
                  <a16:creationId xmlns:a16="http://schemas.microsoft.com/office/drawing/2014/main" id="{F9AC79E4-A094-449F-B3DA-0D2EAF77C405}"/>
                </a:ext>
              </a:extLst>
            </p:cNvPr>
            <p:cNvCxnSpPr>
              <a:cxnSpLocks/>
              <a:stCxn id="64" idx="1"/>
              <a:endCxn id="53" idx="3"/>
            </p:cNvCxnSpPr>
            <p:nvPr/>
          </p:nvCxnSpPr>
          <p:spPr>
            <a:xfrm flipH="1">
              <a:off x="10296525" y="5416107"/>
              <a:ext cx="2621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49D4840A-6C49-48CE-83BC-E67911D0576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581" y="1561354"/>
            <a:ext cx="2520000" cy="900000"/>
          </a:xfrm>
          <a:prstGeom prst="rect">
            <a:avLst/>
          </a:prstGeom>
          <a:noFill/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478934F-5F3F-4435-AD30-AA6B61B7A1A1}"/>
              </a:ext>
            </a:extLst>
          </p:cNvPr>
          <p:cNvSpPr txBox="1"/>
          <p:nvPr/>
        </p:nvSpPr>
        <p:spPr>
          <a:xfrm>
            <a:off x="5886648" y="17256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4E42CF-AF06-4A68-87D2-EA7F711BC685}"/>
              </a:ext>
            </a:extLst>
          </p:cNvPr>
          <p:cNvSpPr txBox="1"/>
          <p:nvPr/>
        </p:nvSpPr>
        <p:spPr>
          <a:xfrm>
            <a:off x="5942104" y="7504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1FDB18-F214-4F60-B2B9-C705CD2171A8}"/>
              </a:ext>
            </a:extLst>
          </p:cNvPr>
          <p:cNvSpPr txBox="1"/>
          <p:nvPr/>
        </p:nvSpPr>
        <p:spPr>
          <a:xfrm>
            <a:off x="5875589" y="38018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8BF7B0-A1B3-442F-9A46-0EB5CA785CFB}"/>
              </a:ext>
            </a:extLst>
          </p:cNvPr>
          <p:cNvSpPr txBox="1"/>
          <p:nvPr/>
        </p:nvSpPr>
        <p:spPr>
          <a:xfrm>
            <a:off x="5825085" y="487816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100</a:t>
            </a:r>
          </a:p>
        </p:txBody>
      </p: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C010D577-D0C7-46FD-83DC-99FA955A3BE0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581" y="2543557"/>
            <a:ext cx="2520000" cy="900000"/>
          </a:xfrm>
          <a:prstGeom prst="rect">
            <a:avLst/>
          </a:prstGeom>
          <a:noFill/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A2077D41-003C-4AE7-951B-96B9698FFFB3}"/>
              </a:ext>
            </a:extLst>
          </p:cNvPr>
          <p:cNvSpPr txBox="1"/>
          <p:nvPr/>
        </p:nvSpPr>
        <p:spPr>
          <a:xfrm>
            <a:off x="5895689" y="284163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50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642A9078-C4CB-4325-AEE7-4A6FA2048D24}"/>
              </a:ext>
            </a:extLst>
          </p:cNvPr>
          <p:cNvSpPr/>
          <p:nvPr/>
        </p:nvSpPr>
        <p:spPr>
          <a:xfrm>
            <a:off x="7541343" y="1836092"/>
            <a:ext cx="2755182" cy="293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Вероятность (</a:t>
            </a:r>
            <a:r>
              <a:rPr lang="en-US" sz="1200" dirty="0"/>
              <a:t>8</a:t>
            </a:r>
            <a:r>
              <a:rPr lang="ru-RU" sz="1200" dirty="0"/>
              <a:t>.</a:t>
            </a:r>
            <a:r>
              <a:rPr lang="en-US" sz="1200" dirty="0"/>
              <a:t>7-27.0</a:t>
            </a:r>
            <a:r>
              <a:rPr lang="ru-RU" sz="1200" dirty="0"/>
              <a:t>-</a:t>
            </a:r>
            <a:r>
              <a:rPr lang="en-US" sz="1200" dirty="0"/>
              <a:t>98.4</a:t>
            </a:r>
            <a:r>
              <a:rPr lang="ru-RU" sz="1200" dirty="0"/>
              <a:t>) –</a:t>
            </a:r>
          </a:p>
          <a:p>
            <a:pPr algn="ctr"/>
            <a:r>
              <a:rPr lang="en-US" sz="1200" dirty="0"/>
              <a:t>(0.27</a:t>
            </a:r>
            <a:r>
              <a:rPr lang="ru-RU" sz="1200" dirty="0"/>
              <a:t>-</a:t>
            </a:r>
            <a:r>
              <a:rPr lang="en-US" sz="1200" dirty="0"/>
              <a:t>0.82</a:t>
            </a:r>
            <a:r>
              <a:rPr lang="ru-RU" sz="1200" dirty="0"/>
              <a:t>-</a:t>
            </a:r>
            <a:r>
              <a:rPr lang="en-US" sz="1200" dirty="0"/>
              <a:t>1.42) </a:t>
            </a:r>
            <a:r>
              <a:rPr lang="ru-RU" sz="1200" dirty="0"/>
              <a:t>–</a:t>
            </a:r>
            <a:r>
              <a:rPr lang="en-US" sz="1200" dirty="0"/>
              <a:t> (0.27-0.27-0.82)</a:t>
            </a:r>
            <a:r>
              <a:rPr lang="ru-RU" sz="1200" dirty="0"/>
              <a:t>)</a:t>
            </a: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2A8216BD-1319-4189-A25D-847EEBB663A2}"/>
              </a:ext>
            </a:extLst>
          </p:cNvPr>
          <p:cNvGrpSpPr/>
          <p:nvPr/>
        </p:nvGrpSpPr>
        <p:grpSpPr>
          <a:xfrm>
            <a:off x="7553194" y="581880"/>
            <a:ext cx="4438956" cy="924439"/>
            <a:chOff x="7541343" y="4638450"/>
            <a:chExt cx="4438956" cy="924439"/>
          </a:xfrm>
        </p:grpSpPr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5FA7558A-E05C-4002-9DEB-BB1793B5E6E4}"/>
                </a:ext>
              </a:extLst>
            </p:cNvPr>
            <p:cNvSpPr/>
            <p:nvPr/>
          </p:nvSpPr>
          <p:spPr>
            <a:xfrm>
              <a:off x="7541343" y="4638450"/>
              <a:ext cx="2755181" cy="200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Дальность (</a:t>
              </a:r>
              <a:r>
                <a:rPr lang="en-US" sz="1200" dirty="0"/>
                <a:t>[</a:t>
              </a:r>
              <a:r>
                <a:rPr lang="ru-RU" sz="1200" dirty="0"/>
                <a:t>1-24</a:t>
              </a:r>
              <a:r>
                <a:rPr lang="en-US" sz="1200" dirty="0"/>
                <a:t>]-36</a:t>
              </a:r>
              <a:r>
                <a:rPr lang="ru-RU" sz="1200" dirty="0"/>
                <a:t>-47.9)</a:t>
              </a:r>
              <a:r>
                <a:rPr lang="en-US" sz="1200" dirty="0"/>
                <a:t> </a:t>
              </a:r>
              <a:r>
                <a:rPr lang="ru-RU" sz="1200" dirty="0"/>
                <a:t>м.</a:t>
              </a:r>
            </a:p>
          </p:txBody>
        </p: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C818012E-FC14-4DFF-A6A6-D0B7DBDC33A4}"/>
                </a:ext>
              </a:extLst>
            </p:cNvPr>
            <p:cNvSpPr/>
            <p:nvPr/>
          </p:nvSpPr>
          <p:spPr>
            <a:xfrm>
              <a:off x="7541343" y="4962813"/>
              <a:ext cx="2755181" cy="2000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Рассеяние (</a:t>
              </a:r>
              <a:r>
                <a:rPr lang="en-US" sz="1200" dirty="0"/>
                <a:t>[</a:t>
              </a:r>
              <a:r>
                <a:rPr lang="ru-RU" sz="1200" dirty="0"/>
                <a:t>3</a:t>
              </a:r>
              <a:r>
                <a:rPr lang="en-US" sz="1200" dirty="0"/>
                <a:t>]</a:t>
              </a:r>
              <a:r>
                <a:rPr lang="ru-RU" sz="1200" dirty="0"/>
                <a:t>–30</a:t>
              </a:r>
              <a:r>
                <a:rPr lang="en-US" sz="1200" dirty="0"/>
                <a:t>-43.5</a:t>
              </a:r>
              <a:r>
                <a:rPr lang="ru-RU" sz="1200" dirty="0"/>
                <a:t>-56.8) см.</a:t>
              </a:r>
            </a:p>
          </p:txBody>
        </p:sp>
        <p:cxnSp>
          <p:nvCxnSpPr>
            <p:cNvPr id="126" name="Прямая со стрелкой 125">
              <a:extLst>
                <a:ext uri="{FF2B5EF4-FFF2-40B4-BE49-F238E27FC236}">
                  <a16:creationId xmlns:a16="http://schemas.microsoft.com/office/drawing/2014/main" id="{7BEAAF56-606B-494F-AC92-21CCCDC4FE0A}"/>
                </a:ext>
              </a:extLst>
            </p:cNvPr>
            <p:cNvCxnSpPr>
              <a:cxnSpLocks/>
              <a:stCxn id="124" idx="2"/>
              <a:endCxn id="125" idx="0"/>
            </p:cNvCxnSpPr>
            <p:nvPr/>
          </p:nvCxnSpPr>
          <p:spPr>
            <a:xfrm>
              <a:off x="8918934" y="4838475"/>
              <a:ext cx="0" cy="124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Прямоугольник 126">
              <a:extLst>
                <a:ext uri="{FF2B5EF4-FFF2-40B4-BE49-F238E27FC236}">
                  <a16:creationId xmlns:a16="http://schemas.microsoft.com/office/drawing/2014/main" id="{98B754F0-5A01-4B22-B431-880239B44F00}"/>
                </a:ext>
              </a:extLst>
            </p:cNvPr>
            <p:cNvSpPr/>
            <p:nvPr/>
          </p:nvSpPr>
          <p:spPr>
            <a:xfrm>
              <a:off x="7541343" y="5269324"/>
              <a:ext cx="2755182" cy="2935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Вероятность (0.8</a:t>
              </a:r>
              <a:r>
                <a:rPr lang="en-US" sz="1200" dirty="0"/>
                <a:t>-3.5</a:t>
              </a:r>
              <a:r>
                <a:rPr lang="ru-RU" sz="1200" dirty="0"/>
                <a:t>-51) –</a:t>
              </a:r>
            </a:p>
            <a:p>
              <a:pPr algn="ctr"/>
              <a:r>
                <a:rPr lang="en-US" sz="1200" dirty="0"/>
                <a:t>(0.03</a:t>
              </a:r>
              <a:r>
                <a:rPr lang="ru-RU" sz="1200" dirty="0"/>
                <a:t>-</a:t>
              </a:r>
              <a:r>
                <a:rPr lang="en-US" sz="1200" dirty="0"/>
                <a:t>0.03</a:t>
              </a:r>
              <a:r>
                <a:rPr lang="ru-RU" sz="1200" dirty="0"/>
                <a:t>-</a:t>
              </a:r>
              <a:r>
                <a:rPr lang="en-US" sz="1200" dirty="0"/>
                <a:t>0.16) </a:t>
              </a:r>
              <a:r>
                <a:rPr lang="ru-RU" sz="1200" dirty="0"/>
                <a:t>–</a:t>
              </a:r>
              <a:r>
                <a:rPr lang="en-US" sz="1200" dirty="0"/>
                <a:t>(0.03-0.03-0.09)</a:t>
              </a:r>
              <a:endParaRPr lang="ru-RU" sz="1200" dirty="0"/>
            </a:p>
          </p:txBody>
        </p:sp>
        <p:cxnSp>
          <p:nvCxnSpPr>
            <p:cNvPr id="128" name="Прямая со стрелкой 127">
              <a:extLst>
                <a:ext uri="{FF2B5EF4-FFF2-40B4-BE49-F238E27FC236}">
                  <a16:creationId xmlns:a16="http://schemas.microsoft.com/office/drawing/2014/main" id="{73956109-00F7-4285-83E1-8D0F9A5A4306}"/>
                </a:ext>
              </a:extLst>
            </p:cNvPr>
            <p:cNvCxnSpPr>
              <a:cxnSpLocks/>
              <a:stCxn id="125" idx="2"/>
              <a:endCxn id="127" idx="0"/>
            </p:cNvCxnSpPr>
            <p:nvPr/>
          </p:nvCxnSpPr>
          <p:spPr>
            <a:xfrm>
              <a:off x="8918934" y="5162839"/>
              <a:ext cx="0" cy="106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Прямоугольник 128">
              <a:extLst>
                <a:ext uri="{FF2B5EF4-FFF2-40B4-BE49-F238E27FC236}">
                  <a16:creationId xmlns:a16="http://schemas.microsoft.com/office/drawing/2014/main" id="{90AA4D18-63F7-4080-91CC-CB3D691EEABA}"/>
                </a:ext>
              </a:extLst>
            </p:cNvPr>
            <p:cNvSpPr/>
            <p:nvPr/>
          </p:nvSpPr>
          <p:spPr>
            <a:xfrm>
              <a:off x="10558625" y="5344925"/>
              <a:ext cx="1421674" cy="1423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Тело (10-18</a:t>
              </a:r>
              <a:r>
                <a:rPr lang="en-US" sz="1200" dirty="0"/>
                <a:t>-4</a:t>
              </a:r>
              <a:r>
                <a:rPr lang="ru-RU" sz="1200" dirty="0"/>
                <a:t>0) см.</a:t>
              </a:r>
            </a:p>
          </p:txBody>
        </p:sp>
        <p:cxnSp>
          <p:nvCxnSpPr>
            <p:cNvPr id="130" name="Прямая со стрелкой 129">
              <a:extLst>
                <a:ext uri="{FF2B5EF4-FFF2-40B4-BE49-F238E27FC236}">
                  <a16:creationId xmlns:a16="http://schemas.microsoft.com/office/drawing/2014/main" id="{50A794BD-1BA5-43DA-8A20-20916122325A}"/>
                </a:ext>
              </a:extLst>
            </p:cNvPr>
            <p:cNvCxnSpPr>
              <a:cxnSpLocks/>
              <a:stCxn id="129" idx="1"/>
              <a:endCxn id="127" idx="3"/>
            </p:cNvCxnSpPr>
            <p:nvPr/>
          </p:nvCxnSpPr>
          <p:spPr>
            <a:xfrm flipH="1">
              <a:off x="10296525" y="5416107"/>
              <a:ext cx="2621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52C06395-C873-4DBC-B2D4-9F3830A2AB29}"/>
              </a:ext>
            </a:extLst>
          </p:cNvPr>
          <p:cNvSpPr/>
          <p:nvPr/>
        </p:nvSpPr>
        <p:spPr>
          <a:xfrm>
            <a:off x="7541342" y="2778489"/>
            <a:ext cx="2755182" cy="293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Вероятность (</a:t>
            </a:r>
            <a:r>
              <a:rPr lang="en-US" sz="1200" dirty="0"/>
              <a:t>57</a:t>
            </a:r>
            <a:r>
              <a:rPr lang="ru-RU" sz="1200" dirty="0"/>
              <a:t>.8</a:t>
            </a:r>
            <a:r>
              <a:rPr lang="en-US" sz="1200" dirty="0"/>
              <a:t>-95.0</a:t>
            </a:r>
            <a:r>
              <a:rPr lang="ru-RU" sz="1200" dirty="0"/>
              <a:t>-</a:t>
            </a:r>
            <a:r>
              <a:rPr lang="en-US" sz="1200" dirty="0"/>
              <a:t>100</a:t>
            </a:r>
            <a:r>
              <a:rPr lang="ru-RU" sz="1200" dirty="0"/>
              <a:t>) –</a:t>
            </a:r>
          </a:p>
          <a:p>
            <a:pPr algn="ctr"/>
            <a:r>
              <a:rPr lang="en-US" sz="1200" dirty="0"/>
              <a:t>(1.84</a:t>
            </a:r>
            <a:r>
              <a:rPr lang="ru-RU" sz="1200" dirty="0"/>
              <a:t>-</a:t>
            </a:r>
            <a:r>
              <a:rPr lang="en-US" sz="1200" dirty="0"/>
              <a:t>5.54</a:t>
            </a:r>
            <a:r>
              <a:rPr lang="ru-RU" sz="1200" dirty="0"/>
              <a:t>-</a:t>
            </a:r>
            <a:r>
              <a:rPr lang="en-US" sz="1200" dirty="0"/>
              <a:t>13.14) </a:t>
            </a:r>
            <a:r>
              <a:rPr lang="ru-RU" sz="1200" dirty="0"/>
              <a:t>–</a:t>
            </a:r>
            <a:r>
              <a:rPr lang="en-US" sz="1200" dirty="0"/>
              <a:t> (1.84-5.54-9.3)</a:t>
            </a:r>
            <a:r>
              <a:rPr lang="ru-RU" sz="1200" dirty="0"/>
              <a:t>)</a:t>
            </a: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BE2C84E4-8F85-4699-A366-B036A81CBA5E}"/>
              </a:ext>
            </a:extLst>
          </p:cNvPr>
          <p:cNvSpPr/>
          <p:nvPr/>
        </p:nvSpPr>
        <p:spPr>
          <a:xfrm>
            <a:off x="7541342" y="3801877"/>
            <a:ext cx="2755182" cy="293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Вероятность (</a:t>
            </a:r>
            <a:r>
              <a:rPr lang="en-US" sz="1200" dirty="0"/>
              <a:t>99</a:t>
            </a:r>
            <a:r>
              <a:rPr lang="ru-RU" sz="1200" dirty="0"/>
              <a:t>.</a:t>
            </a:r>
            <a:r>
              <a:rPr lang="en-US" sz="1200" dirty="0"/>
              <a:t>9-100</a:t>
            </a:r>
            <a:r>
              <a:rPr lang="ru-RU" sz="1200" dirty="0"/>
              <a:t>-</a:t>
            </a:r>
            <a:r>
              <a:rPr lang="en-US" sz="1200" dirty="0"/>
              <a:t>100</a:t>
            </a:r>
            <a:r>
              <a:rPr lang="ru-RU" sz="1200" dirty="0"/>
              <a:t>) –</a:t>
            </a:r>
          </a:p>
          <a:p>
            <a:pPr algn="ctr"/>
            <a:r>
              <a:rPr lang="en-US" sz="1200" dirty="0"/>
              <a:t>(12.6</a:t>
            </a:r>
            <a:r>
              <a:rPr lang="ru-RU" sz="1200" dirty="0"/>
              <a:t>-</a:t>
            </a:r>
            <a:r>
              <a:rPr lang="en-US" sz="1200" dirty="0"/>
              <a:t>29.0</a:t>
            </a:r>
            <a:r>
              <a:rPr lang="ru-RU" sz="1200" dirty="0"/>
              <a:t>-</a:t>
            </a:r>
            <a:r>
              <a:rPr lang="en-US" sz="1200" dirty="0"/>
              <a:t>57.8) </a:t>
            </a:r>
            <a:r>
              <a:rPr lang="ru-RU" sz="1200" dirty="0"/>
              <a:t>–</a:t>
            </a:r>
            <a:r>
              <a:rPr lang="en-US" sz="1200" dirty="0"/>
              <a:t> (12.6-20.9-44.2)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99792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F95419F-CC53-464C-BD6E-51974F55DDDB}"/>
              </a:ext>
            </a:extLst>
          </p:cNvPr>
          <p:cNvSpPr/>
          <p:nvPr/>
        </p:nvSpPr>
        <p:spPr>
          <a:xfrm>
            <a:off x="5797501" y="1451250"/>
            <a:ext cx="1440000" cy="14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ru-RU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B41B0BA-0AAD-4340-9218-105B4136C5EA}"/>
              </a:ext>
            </a:extLst>
          </p:cNvPr>
          <p:cNvSpPr/>
          <p:nvPr/>
        </p:nvSpPr>
        <p:spPr>
          <a:xfrm>
            <a:off x="4699469" y="256770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ru-RU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764A24-8546-496D-A964-2486750E3C27}"/>
              </a:ext>
            </a:extLst>
          </p:cNvPr>
          <p:cNvSpPr/>
          <p:nvPr/>
        </p:nvSpPr>
        <p:spPr>
          <a:xfrm>
            <a:off x="4609469" y="16567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35F5E02-080A-43CF-A3F3-6753D78F9D84}"/>
              </a:ext>
            </a:extLst>
          </p:cNvPr>
          <p:cNvSpPr/>
          <p:nvPr/>
        </p:nvSpPr>
        <p:spPr>
          <a:xfrm>
            <a:off x="6187584" y="394849"/>
            <a:ext cx="648000" cy="64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  <a:endParaRPr lang="ru-RU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70F192F-2543-441B-9E3E-7D27F270A2F9}"/>
              </a:ext>
            </a:extLst>
          </p:cNvPr>
          <p:cNvSpPr/>
          <p:nvPr/>
        </p:nvSpPr>
        <p:spPr>
          <a:xfrm>
            <a:off x="5977501" y="3279750"/>
            <a:ext cx="1080000" cy="108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ru-RU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6EB6464-7FD3-473D-8F73-D93AE9CB18F4}"/>
              </a:ext>
            </a:extLst>
          </p:cNvPr>
          <p:cNvSpPr/>
          <p:nvPr/>
        </p:nvSpPr>
        <p:spPr>
          <a:xfrm>
            <a:off x="7700480" y="15667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71A6C6E-7ADB-4097-A996-F7EA1275AEC8}"/>
              </a:ext>
            </a:extLst>
          </p:cNvPr>
          <p:cNvSpPr/>
          <p:nvPr/>
        </p:nvSpPr>
        <p:spPr>
          <a:xfrm>
            <a:off x="6927531" y="48067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B1AD3E8-611D-4BB6-8401-D483695521B4}"/>
              </a:ext>
            </a:extLst>
          </p:cNvPr>
          <p:cNvSpPr/>
          <p:nvPr/>
        </p:nvSpPr>
        <p:spPr>
          <a:xfrm>
            <a:off x="5510256" y="4806750"/>
            <a:ext cx="540000" cy="54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A3F901F-EC14-49E7-951F-33DAFE88B6ED}"/>
              </a:ext>
            </a:extLst>
          </p:cNvPr>
          <p:cNvSpPr/>
          <p:nvPr/>
        </p:nvSpPr>
        <p:spPr>
          <a:xfrm>
            <a:off x="7777501" y="256770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ru-RU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4091A84-BE8A-4DB0-B47E-08AC841306DF}"/>
              </a:ext>
            </a:extLst>
          </p:cNvPr>
          <p:cNvSpPr/>
          <p:nvPr/>
        </p:nvSpPr>
        <p:spPr>
          <a:xfrm>
            <a:off x="5584062" y="575385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ru-RU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B49EABE-C024-4B1F-8833-B0446D4D226F}"/>
              </a:ext>
            </a:extLst>
          </p:cNvPr>
          <p:cNvSpPr/>
          <p:nvPr/>
        </p:nvSpPr>
        <p:spPr>
          <a:xfrm>
            <a:off x="7015060" y="5753850"/>
            <a:ext cx="360000" cy="360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ru-RU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DD6EBA5-E660-4257-A8A3-E81FD7209EDD}"/>
              </a:ext>
            </a:extLst>
          </p:cNvPr>
          <p:cNvCxnSpPr>
            <a:cxnSpLocks/>
            <a:stCxn id="25" idx="0"/>
            <a:endCxn id="28" idx="2"/>
          </p:cNvCxnSpPr>
          <p:nvPr/>
        </p:nvCxnSpPr>
        <p:spPr>
          <a:xfrm flipH="1" flipV="1">
            <a:off x="6511584" y="1042849"/>
            <a:ext cx="5917" cy="408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4401255-65B4-449B-A793-BB1FB487F3E5}"/>
              </a:ext>
            </a:extLst>
          </p:cNvPr>
          <p:cNvCxnSpPr>
            <a:stCxn id="29" idx="0"/>
            <a:endCxn id="25" idx="2"/>
          </p:cNvCxnSpPr>
          <p:nvPr/>
        </p:nvCxnSpPr>
        <p:spPr>
          <a:xfrm flipV="1">
            <a:off x="6517501" y="2891250"/>
            <a:ext cx="0" cy="38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10A566-FAD3-4D45-9E37-8960D07245B4}"/>
              </a:ext>
            </a:extLst>
          </p:cNvPr>
          <p:cNvSpPr txBox="1"/>
          <p:nvPr/>
        </p:nvSpPr>
        <p:spPr>
          <a:xfrm>
            <a:off x="6464214" y="2893950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0.5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8E959480-8650-4889-BECE-E17E1168A5C5}"/>
              </a:ext>
            </a:extLst>
          </p:cNvPr>
          <p:cNvCxnSpPr>
            <a:stCxn id="31" idx="0"/>
            <a:endCxn id="31" idx="0"/>
          </p:cNvCxnSpPr>
          <p:nvPr/>
        </p:nvCxnSpPr>
        <p:spPr>
          <a:xfrm>
            <a:off x="7197531" y="480675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006D0F6-BD33-4DB6-9686-E634C130AB79}"/>
              </a:ext>
            </a:extLst>
          </p:cNvPr>
          <p:cNvCxnSpPr>
            <a:cxnSpLocks/>
            <a:stCxn id="31" idx="0"/>
            <a:endCxn id="29" idx="2"/>
          </p:cNvCxnSpPr>
          <p:nvPr/>
        </p:nvCxnSpPr>
        <p:spPr>
          <a:xfrm flipH="1" flipV="1">
            <a:off x="6517501" y="4359750"/>
            <a:ext cx="680030" cy="44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72F2CCB3-6315-4510-BA37-5192E7153C16}"/>
              </a:ext>
            </a:extLst>
          </p:cNvPr>
          <p:cNvCxnSpPr>
            <a:stCxn id="32" idx="0"/>
            <a:endCxn id="29" idx="2"/>
          </p:cNvCxnSpPr>
          <p:nvPr/>
        </p:nvCxnSpPr>
        <p:spPr>
          <a:xfrm flipV="1">
            <a:off x="5780256" y="4359750"/>
            <a:ext cx="737245" cy="44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3CF1FE2-EF73-4A35-B491-5292F554B11D}"/>
              </a:ext>
            </a:extLst>
          </p:cNvPr>
          <p:cNvSpPr txBox="1"/>
          <p:nvPr/>
        </p:nvSpPr>
        <p:spPr>
          <a:xfrm>
            <a:off x="7936562" y="2196750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1.5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39087C-5E0F-404A-A8C8-2EAAEE4AE08C}"/>
              </a:ext>
            </a:extLst>
          </p:cNvPr>
          <p:cNvSpPr txBox="1"/>
          <p:nvPr/>
        </p:nvSpPr>
        <p:spPr>
          <a:xfrm>
            <a:off x="7174464" y="1708379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0.7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1686FD-4289-48F9-A55D-DECF73D9096D}"/>
              </a:ext>
            </a:extLst>
          </p:cNvPr>
          <p:cNvSpPr txBox="1"/>
          <p:nvPr/>
        </p:nvSpPr>
        <p:spPr>
          <a:xfrm>
            <a:off x="5307032" y="1772861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0.7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08B17D-8B00-4029-814B-C480DB206B99}"/>
              </a:ext>
            </a:extLst>
          </p:cNvPr>
          <p:cNvSpPr txBox="1"/>
          <p:nvPr/>
        </p:nvSpPr>
        <p:spPr>
          <a:xfrm>
            <a:off x="6483474" y="1093386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2.0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779A7F-E0DA-4F01-9952-A1856DA23A9E}"/>
              </a:ext>
            </a:extLst>
          </p:cNvPr>
          <p:cNvSpPr txBox="1"/>
          <p:nvPr/>
        </p:nvSpPr>
        <p:spPr>
          <a:xfrm>
            <a:off x="5764062" y="4384927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0.7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1E0CDF-784A-4938-BEFC-285D00981838}"/>
              </a:ext>
            </a:extLst>
          </p:cNvPr>
          <p:cNvSpPr txBox="1"/>
          <p:nvPr/>
        </p:nvSpPr>
        <p:spPr>
          <a:xfrm>
            <a:off x="6799561" y="4370602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0.7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DC4F2913-824D-47D5-A345-2F694DC0FF0B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5149469" y="1926750"/>
            <a:ext cx="648032" cy="24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C0DF9E22-1B01-4163-B303-AAFA259B0BCB}"/>
              </a:ext>
            </a:extLst>
          </p:cNvPr>
          <p:cNvCxnSpPr>
            <a:cxnSpLocks/>
            <a:stCxn id="30" idx="1"/>
            <a:endCxn id="25" idx="3"/>
          </p:cNvCxnSpPr>
          <p:nvPr/>
        </p:nvCxnSpPr>
        <p:spPr>
          <a:xfrm flipH="1">
            <a:off x="7237501" y="1836750"/>
            <a:ext cx="462979" cy="33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6AF386D8-6528-4207-808F-786229C42851}"/>
              </a:ext>
            </a:extLst>
          </p:cNvPr>
          <p:cNvCxnSpPr>
            <a:cxnSpLocks/>
            <a:stCxn id="33" idx="0"/>
            <a:endCxn id="30" idx="2"/>
          </p:cNvCxnSpPr>
          <p:nvPr/>
        </p:nvCxnSpPr>
        <p:spPr>
          <a:xfrm flipV="1">
            <a:off x="7957501" y="2106750"/>
            <a:ext cx="12979" cy="46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23105C1E-048C-4D97-B5BE-BCAC576236BC}"/>
              </a:ext>
            </a:extLst>
          </p:cNvPr>
          <p:cNvCxnSpPr>
            <a:stCxn id="26" idx="0"/>
            <a:endCxn id="27" idx="2"/>
          </p:cNvCxnSpPr>
          <p:nvPr/>
        </p:nvCxnSpPr>
        <p:spPr>
          <a:xfrm flipV="1">
            <a:off x="4879469" y="2196750"/>
            <a:ext cx="0" cy="37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>
            <a:extLst>
              <a:ext uri="{FF2B5EF4-FFF2-40B4-BE49-F238E27FC236}">
                <a16:creationId xmlns:a16="http://schemas.microsoft.com/office/drawing/2014/main" id="{C9E168A5-BCD4-472D-BCB0-5C484C3851BC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>
          <a:xfrm flipV="1">
            <a:off x="5764062" y="5346750"/>
            <a:ext cx="16194" cy="40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F208C2C-D17F-409C-8BFE-864F6FC36BE8}"/>
              </a:ext>
            </a:extLst>
          </p:cNvPr>
          <p:cNvCxnSpPr>
            <a:stCxn id="35" idx="0"/>
            <a:endCxn id="31" idx="2"/>
          </p:cNvCxnSpPr>
          <p:nvPr/>
        </p:nvCxnSpPr>
        <p:spPr>
          <a:xfrm flipV="1">
            <a:off x="7195060" y="5346750"/>
            <a:ext cx="2471" cy="40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17A5EB4-1B0C-4F43-BE3B-3AA986202AE5}"/>
              </a:ext>
            </a:extLst>
          </p:cNvPr>
          <p:cNvSpPr txBox="1"/>
          <p:nvPr/>
        </p:nvSpPr>
        <p:spPr>
          <a:xfrm>
            <a:off x="5314458" y="5406749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1.5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A2F5AC-D243-40E1-ABA6-DC25ECE2FA53}"/>
              </a:ext>
            </a:extLst>
          </p:cNvPr>
          <p:cNvSpPr txBox="1"/>
          <p:nvPr/>
        </p:nvSpPr>
        <p:spPr>
          <a:xfrm>
            <a:off x="4510592" y="22599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1.5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8A5F31-0300-4E30-ABCA-FD5D0363AAAC}"/>
              </a:ext>
            </a:extLst>
          </p:cNvPr>
          <p:cNvSpPr txBox="1"/>
          <p:nvPr/>
        </p:nvSpPr>
        <p:spPr>
          <a:xfrm>
            <a:off x="7196260" y="5406750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1.5</a:t>
            </a:r>
            <a:endParaRPr lang="ru-RU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9B1EE8E2-D2D1-46B3-9BAD-945C9318009C}"/>
              </a:ext>
            </a:extLst>
          </p:cNvPr>
          <p:cNvSpPr/>
          <p:nvPr/>
        </p:nvSpPr>
        <p:spPr>
          <a:xfrm>
            <a:off x="9082601" y="540590"/>
            <a:ext cx="2314575" cy="578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Cerebration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(=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Мозговая деятельность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B472B802-762E-40B0-969F-437D0F95CE5B}"/>
              </a:ext>
            </a:extLst>
          </p:cNvPr>
          <p:cNvSpPr/>
          <p:nvPr/>
        </p:nvSpPr>
        <p:spPr>
          <a:xfrm>
            <a:off x="1062551" y="2990564"/>
            <a:ext cx="2314575" cy="578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</a:t>
            </a:r>
            <a:r>
              <a:rPr lang="sq-AL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irculatory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Кровеносная система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844F222-BF67-412A-872A-01CCD027FCEB}"/>
              </a:ext>
            </a:extLst>
          </p:cNvPr>
          <p:cNvSpPr/>
          <p:nvPr/>
        </p:nvSpPr>
        <p:spPr>
          <a:xfrm>
            <a:off x="9115827" y="1999299"/>
            <a:ext cx="2314575" cy="578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Respiratory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(=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Дыхательная система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039172DD-2864-45E2-8DC6-D8EFAA624D42}"/>
              </a:ext>
            </a:extLst>
          </p:cNvPr>
          <p:cNvSpPr/>
          <p:nvPr/>
        </p:nvSpPr>
        <p:spPr>
          <a:xfrm>
            <a:off x="9129713" y="4048379"/>
            <a:ext cx="2314575" cy="578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Digestive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(=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Пищевая система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4794F7C8-8043-4544-8206-6BC7E2F3513A}"/>
              </a:ext>
            </a:extLst>
          </p:cNvPr>
          <p:cNvSpPr/>
          <p:nvPr/>
        </p:nvSpPr>
        <p:spPr>
          <a:xfrm>
            <a:off x="9102174" y="4787564"/>
            <a:ext cx="2314575" cy="578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Immune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(=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Иммунная система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1891237D-AE2B-406D-BEFB-2D2026837D6B}"/>
              </a:ext>
            </a:extLst>
          </p:cNvPr>
          <p:cNvCxnSpPr>
            <a:stCxn id="81" idx="1"/>
            <a:endCxn id="28" idx="3"/>
          </p:cNvCxnSpPr>
          <p:nvPr/>
        </p:nvCxnSpPr>
        <p:spPr>
          <a:xfrm flipH="1" flipV="1">
            <a:off x="6835584" y="718849"/>
            <a:ext cx="2247017" cy="110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E10B27FA-81E0-493C-A976-C72C0C4AD676}"/>
              </a:ext>
            </a:extLst>
          </p:cNvPr>
          <p:cNvCxnSpPr>
            <a:cxnSpLocks/>
            <a:stCxn id="82" idx="1"/>
            <a:endCxn id="101" idx="2"/>
          </p:cNvCxnSpPr>
          <p:nvPr/>
        </p:nvCxnSpPr>
        <p:spPr>
          <a:xfrm flipV="1">
            <a:off x="1062551" y="947006"/>
            <a:ext cx="3017535" cy="233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276BA107-073B-47F0-9ACC-4293621F8BAD}"/>
              </a:ext>
            </a:extLst>
          </p:cNvPr>
          <p:cNvCxnSpPr>
            <a:stCxn id="83" idx="1"/>
            <a:endCxn id="25" idx="3"/>
          </p:cNvCxnSpPr>
          <p:nvPr/>
        </p:nvCxnSpPr>
        <p:spPr>
          <a:xfrm flipH="1" flipV="1">
            <a:off x="7237501" y="2171250"/>
            <a:ext cx="1878326" cy="11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B3D4DEB3-4166-46B4-A759-48534C2188E2}"/>
              </a:ext>
            </a:extLst>
          </p:cNvPr>
          <p:cNvSpPr/>
          <p:nvPr/>
        </p:nvSpPr>
        <p:spPr>
          <a:xfrm>
            <a:off x="3377126" y="490691"/>
            <a:ext cx="1405920" cy="456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Все части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(= </a:t>
            </a:r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5" name="Прямая со стрелкой 104">
            <a:extLst>
              <a:ext uri="{FF2B5EF4-FFF2-40B4-BE49-F238E27FC236}">
                <a16:creationId xmlns:a16="http://schemas.microsoft.com/office/drawing/2014/main" id="{23360D43-20A4-48A3-BBA7-ECCCF08C8B96}"/>
              </a:ext>
            </a:extLst>
          </p:cNvPr>
          <p:cNvCxnSpPr>
            <a:stCxn id="84" idx="1"/>
            <a:endCxn id="84" idx="1"/>
          </p:cNvCxnSpPr>
          <p:nvPr/>
        </p:nvCxnSpPr>
        <p:spPr>
          <a:xfrm>
            <a:off x="9129713" y="433756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B2305350-B124-4303-A277-5EC6F540AD92}"/>
              </a:ext>
            </a:extLst>
          </p:cNvPr>
          <p:cNvCxnSpPr>
            <a:stCxn id="84" idx="1"/>
            <a:endCxn id="29" idx="3"/>
          </p:cNvCxnSpPr>
          <p:nvPr/>
        </p:nvCxnSpPr>
        <p:spPr>
          <a:xfrm flipH="1" flipV="1">
            <a:off x="7057501" y="3819750"/>
            <a:ext cx="2072212" cy="51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89227CD5-3FA1-47E4-A0BB-60FCEB8C21D0}"/>
              </a:ext>
            </a:extLst>
          </p:cNvPr>
          <p:cNvSpPr/>
          <p:nvPr/>
        </p:nvSpPr>
        <p:spPr>
          <a:xfrm>
            <a:off x="1189620" y="490690"/>
            <a:ext cx="1658123" cy="456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Cambria" panose="02040503050406030204" pitchFamily="18" charset="0"/>
                <a:ea typeface="Cambria" panose="02040503050406030204" pitchFamily="18" charset="0"/>
              </a:rPr>
              <a:t>Все системы (= 50)</a:t>
            </a: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BF5BCEF8-60BB-4679-8CB0-8E26679E9608}"/>
              </a:ext>
            </a:extLst>
          </p:cNvPr>
          <p:cNvSpPr/>
          <p:nvPr/>
        </p:nvSpPr>
        <p:spPr>
          <a:xfrm>
            <a:off x="1189620" y="142875"/>
            <a:ext cx="3593425" cy="284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Общие здоровье (=100)</a:t>
            </a:r>
          </a:p>
        </p:txBody>
      </p:sp>
    </p:spTree>
    <p:extLst>
      <p:ext uri="{BB962C8B-B14F-4D97-AF65-F5344CB8AC3E}">
        <p14:creationId xmlns:p14="http://schemas.microsoft.com/office/powerpoint/2010/main" val="2993039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249</Words>
  <Application>Microsoft Office PowerPoint</Application>
  <PresentationFormat>Широкоэкранный</PresentationFormat>
  <Paragraphs>68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Sergey</dc:creator>
  <cp:lastModifiedBy>Sergey</cp:lastModifiedBy>
  <cp:revision>26</cp:revision>
  <dcterms:created xsi:type="dcterms:W3CDTF">2024-04-24T13:18:19Z</dcterms:created>
  <dcterms:modified xsi:type="dcterms:W3CDTF">2024-04-24T19:16:12Z</dcterms:modified>
</cp:coreProperties>
</file>